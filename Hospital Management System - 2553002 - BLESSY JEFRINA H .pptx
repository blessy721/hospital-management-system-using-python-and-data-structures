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72" r:id="rId2"/>
    <p:sldId id="257" r:id="rId3"/>
    <p:sldId id="258" r:id="rId4"/>
    <p:sldId id="259" r:id="rId5"/>
    <p:sldId id="260" r:id="rId6"/>
    <p:sldId id="261" r:id="rId7"/>
    <p:sldId id="271" r:id="rId8"/>
    <p:sldId id="273" r:id="rId9"/>
    <p:sldId id="275" r:id="rId10"/>
    <p:sldId id="280" r:id="rId11"/>
    <p:sldId id="262" r:id="rId12"/>
    <p:sldId id="263" r:id="rId13"/>
    <p:sldId id="274" r:id="rId14"/>
    <p:sldId id="276" r:id="rId15"/>
    <p:sldId id="277" r:id="rId16"/>
    <p:sldId id="278" r:id="rId17"/>
    <p:sldId id="279" r:id="rId18"/>
    <p:sldId id="265" r:id="rId19"/>
    <p:sldId id="266" r:id="rId20"/>
    <p:sldId id="267"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81" d="100"/>
          <a:sy n="81" d="100"/>
        </p:scale>
        <p:origin x="1498" y="53"/>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pPr/>
              <a:t>12/10/2025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pPr/>
              <a:t>12/10/2025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pPr/>
              <a:t>12/10/2025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pPr/>
              <a:t>12/10/2025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pPr/>
              <a:t>12/10/2025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pPr/>
              <a:t>12/10/2025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pPr/>
              <a:t>12/10/2025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pPr/>
              <a:t>12/10/2025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pPr/>
              <a:t>12/10/2025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pPr/>
              <a:t>12/10/2025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pPr/>
              <a:t>12/10/2025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pPr/>
              <a:t>12/10/2025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pPr/>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189B1B-F948-BA1E-2966-D53836304E20}"/>
              </a:ext>
            </a:extLst>
          </p:cNvPr>
          <p:cNvSpPr>
            <a:spLocks noGrp="1"/>
          </p:cNvSpPr>
          <p:nvPr>
            <p:ph type="title"/>
          </p:nvPr>
        </p:nvSpPr>
        <p:spPr>
          <a:xfrm>
            <a:off x="532614" y="846138"/>
            <a:ext cx="8229600" cy="1143000"/>
          </a:xfrm>
        </p:spPr>
        <p:txBody>
          <a:bodyPr>
            <a:normAutofit fontScale="90000"/>
          </a:bodyPr>
          <a:lstStyle/>
          <a:p>
            <a:r>
              <a:rPr lang="en-IN" b="1" dirty="0">
                <a:latin typeface="Times New Roman" panose="02020603050405020304" pitchFamily="18" charset="0"/>
                <a:cs typeface="Times New Roman" panose="02020603050405020304" pitchFamily="18" charset="0"/>
              </a:rPr>
              <a:t>HOSPITAL MANAGEMENT SYSTEM</a:t>
            </a:r>
            <a:endParaRPr lang="en-IN" dirty="0"/>
          </a:p>
        </p:txBody>
      </p:sp>
      <p:sp>
        <p:nvSpPr>
          <p:cNvPr id="3" name="Content Placeholder 2">
            <a:extLst>
              <a:ext uri="{FF2B5EF4-FFF2-40B4-BE49-F238E27FC236}">
                <a16:creationId xmlns:a16="http://schemas.microsoft.com/office/drawing/2014/main" id="{921F1639-B25E-5368-936F-64D8E9768DDD}"/>
              </a:ext>
            </a:extLst>
          </p:cNvPr>
          <p:cNvSpPr>
            <a:spLocks noGrp="1"/>
          </p:cNvSpPr>
          <p:nvPr>
            <p:ph idx="1"/>
          </p:nvPr>
        </p:nvSpPr>
        <p:spPr>
          <a:xfrm>
            <a:off x="532614" y="2561735"/>
            <a:ext cx="8229600" cy="4525963"/>
          </a:xfrm>
        </p:spPr>
        <p:txBody>
          <a:bodyPr/>
          <a:lstStyle/>
          <a:p>
            <a:r>
              <a:rPr lang="en-IN" dirty="0">
                <a:latin typeface="Times New Roman" panose="02020603050405020304" pitchFamily="18" charset="0"/>
                <a:cs typeface="Times New Roman" panose="02020603050405020304" pitchFamily="18" charset="0"/>
              </a:rPr>
              <a:t>Project: Hospital Management System</a:t>
            </a:r>
          </a:p>
          <a:p>
            <a:r>
              <a:rPr lang="en-IN" dirty="0">
                <a:latin typeface="Times New Roman" panose="02020603050405020304" pitchFamily="18" charset="0"/>
                <a:cs typeface="Times New Roman" panose="02020603050405020304" pitchFamily="18" charset="0"/>
              </a:rPr>
              <a:t>Team: H. Blessy Jefrina (2553002)</a:t>
            </a:r>
          </a:p>
          <a:p>
            <a:r>
              <a:rPr lang="en-IN" dirty="0">
                <a:latin typeface="Times New Roman" panose="02020603050405020304" pitchFamily="18" charset="0"/>
                <a:cs typeface="Times New Roman" panose="02020603050405020304" pitchFamily="18" charset="0"/>
              </a:rPr>
              <a:t>Mentor: </a:t>
            </a:r>
            <a:r>
              <a:rPr lang="en-IN" dirty="0" err="1">
                <a:latin typeface="Times New Roman" panose="02020603050405020304" pitchFamily="18" charset="0"/>
                <a:cs typeface="Times New Roman" panose="02020603050405020304" pitchFamily="18" charset="0"/>
              </a:rPr>
              <a:t>Dr.G.SivakamaSundari</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Dept: Information &amp; Cyber Warfare</a:t>
            </a:r>
          </a:p>
          <a:p>
            <a:r>
              <a:rPr lang="en-IN" dirty="0">
                <a:latin typeface="Times New Roman" panose="02020603050405020304" pitchFamily="18" charset="0"/>
                <a:cs typeface="Times New Roman" panose="02020603050405020304" pitchFamily="18" charset="0"/>
              </a:rPr>
              <a:t>Date: 10/12/2025 – FINAL REVIEW</a:t>
            </a:r>
          </a:p>
          <a:p>
            <a:endParaRPr lang="en-IN" dirty="0"/>
          </a:p>
        </p:txBody>
      </p:sp>
    </p:spTree>
    <p:extLst>
      <p:ext uri="{BB962C8B-B14F-4D97-AF65-F5344CB8AC3E}">
        <p14:creationId xmlns:p14="http://schemas.microsoft.com/office/powerpoint/2010/main" val="21011400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latin typeface="Times New Roman" panose="02020603050405020304" pitchFamily="18" charset="0"/>
                <a:cs typeface="Times New Roman" panose="02020603050405020304" pitchFamily="18" charset="0"/>
              </a:rPr>
              <a:t>Problem Statement</a:t>
            </a:r>
          </a:p>
        </p:txBody>
      </p:sp>
      <p:sp>
        <p:nvSpPr>
          <p:cNvPr id="3" name="Content Placeholder 2"/>
          <p:cNvSpPr>
            <a:spLocks noGrp="1"/>
          </p:cNvSpPr>
          <p:nvPr>
            <p:ph idx="1"/>
          </p:nvPr>
        </p:nvSpPr>
        <p:spPr/>
        <p:txBody>
          <a:bodyPr/>
          <a:lstStyle/>
          <a:p>
            <a:pPr marL="0" indent="0">
              <a:buNone/>
            </a:pPr>
            <a:r>
              <a:rPr lang="en-US" dirty="0">
                <a:latin typeface="Times New Roman" panose="02020603050405020304" pitchFamily="18" charset="0"/>
                <a:cs typeface="Times New Roman" panose="02020603050405020304" pitchFamily="18" charset="0"/>
              </a:rPr>
              <a:t>Hospitals often rely on traditional management systems that suffer from slow data retrieval, poor integration between modules, and high dependence on manual processes. These limitations lead to delays in accessing, inefficient appointment scheduling, errors in billing, and overall reduced operational efficiency.</a:t>
            </a:r>
            <a:endParaRPr lang="en-IN" dirty="0">
              <a:latin typeface="Times New Roman" panose="02020603050405020304" pitchFamily="18" charset="0"/>
              <a:cs typeface="Times New Roman" panose="02020603050405020304" pitchFamily="18" charset="0"/>
            </a:endParaRPr>
          </a:p>
          <a:p>
            <a:pPr marL="0" indent="0">
              <a:buNone/>
            </a:pPr>
            <a:endParaRPr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latin typeface="Times New Roman" panose="02020603050405020304" pitchFamily="18" charset="0"/>
                <a:cs typeface="Times New Roman" panose="02020603050405020304" pitchFamily="18" charset="0"/>
              </a:rPr>
              <a:t>Objectives</a:t>
            </a:r>
          </a:p>
        </p:txBody>
      </p:sp>
      <p:sp>
        <p:nvSpPr>
          <p:cNvPr id="3" name="Content Placeholder 2"/>
          <p:cNvSpPr>
            <a:spLocks noGrp="1"/>
          </p:cNvSpPr>
          <p:nvPr>
            <p:ph idx="1"/>
          </p:nvPr>
        </p:nvSpPr>
        <p:spPr>
          <a:xfrm>
            <a:off x="636309" y="1826444"/>
            <a:ext cx="8229600" cy="4525963"/>
          </a:xfrm>
        </p:spPr>
        <p:txBody>
          <a:bodyPr/>
          <a:lstStyle/>
          <a:p>
            <a:pPr marL="0" indent="0">
              <a:buNone/>
            </a:pPr>
            <a:r>
              <a:rPr lang="en-IN" dirty="0">
                <a:effectLst/>
                <a:latin typeface="Times New Roman" panose="02020603050405020304" pitchFamily="18" charset="0"/>
                <a:ea typeface="Times New Roman" panose="02020603050405020304" pitchFamily="18" charset="0"/>
              </a:rPr>
              <a:t>The primary objectives of a Hospital Management System are to automate and streamline hospital processes, ensure accurate patient and </a:t>
            </a:r>
            <a:r>
              <a:rPr lang="en-IN" dirty="0">
                <a:latin typeface="Times New Roman" panose="02020603050405020304" pitchFamily="18" charset="0"/>
                <a:ea typeface="Times New Roman" panose="02020603050405020304" pitchFamily="18" charset="0"/>
              </a:rPr>
              <a:t>to book appointment </a:t>
            </a:r>
            <a:r>
              <a:rPr lang="en-IN" dirty="0">
                <a:effectLst/>
                <a:latin typeface="Times New Roman" panose="02020603050405020304" pitchFamily="18" charset="0"/>
                <a:ea typeface="Times New Roman" panose="02020603050405020304" pitchFamily="18" charset="0"/>
              </a:rPr>
              <a:t>improve patient care and safety, manage resources efficiently, and support better decision making through timely reports and analytics.</a:t>
            </a:r>
          </a:p>
          <a:p>
            <a:pPr marL="0" indent="0">
              <a:buNone/>
            </a:pPr>
            <a:endParaRPr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7"/>
            <a:ext cx="8229600" cy="1403333"/>
          </a:xfrm>
        </p:spPr>
        <p:txBody>
          <a:bodyPr>
            <a:normAutofit fontScale="90000"/>
          </a:bodyPr>
          <a:lstStyle/>
          <a:p>
            <a:r>
              <a:rPr b="1" dirty="0">
                <a:latin typeface="Times New Roman" panose="02020603050405020304" pitchFamily="18" charset="0"/>
                <a:cs typeface="Times New Roman" panose="02020603050405020304" pitchFamily="18" charset="0"/>
              </a:rPr>
              <a:t>Literature Review / Existing Systems</a:t>
            </a:r>
          </a:p>
        </p:txBody>
      </p:sp>
      <p:sp>
        <p:nvSpPr>
          <p:cNvPr id="3" name="Content Placeholder 2"/>
          <p:cNvSpPr>
            <a:spLocks noGrp="1"/>
          </p:cNvSpPr>
          <p:nvPr>
            <p:ph idx="1"/>
          </p:nvPr>
        </p:nvSpPr>
        <p:spPr>
          <a:xfrm>
            <a:off x="457200" y="2139885"/>
            <a:ext cx="8229600" cy="3986278"/>
          </a:xfrm>
        </p:spPr>
        <p:txBody>
          <a:bodyPr>
            <a:normAutofit lnSpcReduction="10000"/>
          </a:bodyPr>
          <a:lstStyle/>
          <a:p>
            <a:pPr marL="0" indent="0">
              <a:buNone/>
            </a:pPr>
            <a:r>
              <a:rPr lang="en-US" dirty="0">
                <a:latin typeface="Times New Roman" panose="02020603050405020304" pitchFamily="18" charset="0"/>
                <a:cs typeface="Times New Roman" panose="02020603050405020304" pitchFamily="18" charset="0"/>
              </a:rPr>
              <a:t>Traditional hospital systems are slow, redundant, and poorly integrated. Studies emphasize the need for modular, efficient designs using data structures like hash tables, heaps, and indexed lists. Our system resolves these issues through optimized Python data structures combined with Django framework andSQLite3 for faster, reliable operations.</a:t>
            </a:r>
          </a:p>
          <a:p>
            <a:endParaRPr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b="1" dirty="0">
                <a:latin typeface="Times New Roman" panose="02020603050405020304" pitchFamily="18" charset="0"/>
                <a:cs typeface="Times New Roman" panose="02020603050405020304" pitchFamily="18" charset="0"/>
              </a:rPr>
              <a:t>Methodology</a:t>
            </a:r>
            <a:r>
              <a:rPr dirty="0">
                <a:latin typeface="Times New Roman" panose="02020603050405020304" pitchFamily="18" charset="0"/>
                <a:cs typeface="Times New Roman" panose="02020603050405020304" pitchFamily="18" charset="0"/>
              </a:rPr>
              <a:t> </a:t>
            </a:r>
            <a:endParaRPr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marL="0" indent="0">
              <a:buNone/>
            </a:pPr>
            <a:r>
              <a:rPr lang="en-IN" dirty="0">
                <a:latin typeface="Times New Roman" panose="02020603050405020304" pitchFamily="18" charset="0"/>
                <a:cs typeface="Times New Roman" panose="02020603050405020304" pitchFamily="18" charset="0"/>
              </a:rPr>
              <a:t>The system uses a web UI (HTML/CSS/JS) connected to Django , Python backend logic with SQLite3 storage. It includes modules for patients, appointments, staff, billing, records, and inventory. Efficient data structures and algorithms like hash search, priority queue scheduling and tries to optimize performance. </a:t>
            </a:r>
            <a:endParaRPr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latin typeface="Times New Roman" panose="02020603050405020304" pitchFamily="18" charset="0"/>
                <a:cs typeface="Times New Roman" panose="02020603050405020304" pitchFamily="18" charset="0"/>
              </a:rPr>
              <a:t>Implementation Details</a:t>
            </a:r>
          </a:p>
        </p:txBody>
      </p:sp>
      <p:sp>
        <p:nvSpPr>
          <p:cNvPr id="3" name="Content Placeholder 2"/>
          <p:cNvSpPr>
            <a:spLocks noGrp="1"/>
          </p:cNvSpPr>
          <p:nvPr>
            <p:ph idx="1"/>
          </p:nvPr>
        </p:nvSpPr>
        <p:spPr/>
        <p:txBody>
          <a:bodyPr>
            <a:normAutofit/>
          </a:bodyPr>
          <a:lstStyle/>
          <a:p>
            <a:r>
              <a:rPr lang="en-US" b="1" dirty="0">
                <a:latin typeface="Times New Roman" panose="02020603050405020304" pitchFamily="18" charset="0"/>
                <a:cs typeface="Times New Roman" panose="02020603050405020304" pitchFamily="18" charset="0"/>
              </a:rPr>
              <a:t>Core modules</a:t>
            </a:r>
            <a:endParaRPr lang="en-US"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Patient module</a:t>
            </a:r>
            <a:r>
              <a:rPr lang="en-US" dirty="0">
                <a:latin typeface="Times New Roman" panose="02020603050405020304" pitchFamily="18" charset="0"/>
                <a:cs typeface="Times New Roman" panose="02020603050405020304" pitchFamily="18" charset="0"/>
              </a:rPr>
              <a:t> — patient profiles, demographic and contact data, </a:t>
            </a:r>
          </a:p>
          <a:p>
            <a:pPr>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Appointment engine</a:t>
            </a:r>
            <a:r>
              <a:rPr lang="en-US" dirty="0">
                <a:latin typeface="Times New Roman" panose="02020603050405020304" pitchFamily="18" charset="0"/>
                <a:cs typeface="Times New Roman" panose="02020603050405020304" pitchFamily="18" charset="0"/>
              </a:rPr>
              <a:t> — efficient scheduling and booking management.</a:t>
            </a:r>
          </a:p>
          <a:p>
            <a:pPr>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Doctor module</a:t>
            </a:r>
            <a:r>
              <a:rPr lang="en-US" dirty="0">
                <a:latin typeface="Times New Roman" panose="02020603050405020304" pitchFamily="18" charset="0"/>
                <a:cs typeface="Times New Roman" panose="02020603050405020304" pitchFamily="18" charset="0"/>
              </a:rPr>
              <a:t> — Doctor profiles, demographic and appointment </a:t>
            </a:r>
          </a:p>
          <a:p>
            <a:pPr marL="0" indent="0">
              <a:buNone/>
            </a:pPr>
            <a:endParaRPr lang="en-IN"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F1C01A-1916-BCD7-E028-18177BBBA5B0}"/>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DATA STRUCTURE USED</a:t>
            </a:r>
          </a:p>
        </p:txBody>
      </p:sp>
      <p:sp>
        <p:nvSpPr>
          <p:cNvPr id="3" name="Content Placeholder 2">
            <a:extLst>
              <a:ext uri="{FF2B5EF4-FFF2-40B4-BE49-F238E27FC236}">
                <a16:creationId xmlns:a16="http://schemas.microsoft.com/office/drawing/2014/main" id="{9F8E1629-936A-305F-F1BB-A13F8369B002}"/>
              </a:ext>
            </a:extLst>
          </p:cNvPr>
          <p:cNvSpPr>
            <a:spLocks noGrp="1"/>
          </p:cNvSpPr>
          <p:nvPr>
            <p:ph idx="1"/>
          </p:nvPr>
        </p:nvSpPr>
        <p:spPr/>
        <p:txBody>
          <a:bodyPr>
            <a:normAutofit lnSpcReduction="10000"/>
          </a:bodyPr>
          <a:lstStyle/>
          <a:p>
            <a:pPr marL="0" indent="0">
              <a:buNone/>
            </a:pPr>
            <a:r>
              <a:rPr lang="en-IN" b="1" dirty="0">
                <a:effectLst/>
                <a:latin typeface="Times New Roman" panose="02020603050405020304" pitchFamily="18" charset="0"/>
                <a:cs typeface="Times New Roman" panose="02020603050405020304" pitchFamily="18" charset="0"/>
              </a:rPr>
              <a:t>Queue – Patient Queue</a:t>
            </a:r>
          </a:p>
          <a:p>
            <a:pPr marL="0" indent="0">
              <a:buNone/>
            </a:pPr>
            <a:r>
              <a:rPr lang="en-US" sz="2400" dirty="0">
                <a:latin typeface="Times New Roman" panose="02020603050405020304" pitchFamily="18" charset="0"/>
                <a:cs typeface="Times New Roman" panose="02020603050405020304" pitchFamily="18" charset="0"/>
              </a:rPr>
              <a:t>Patient Queue is used to manage patients in a First-Come-First-Served order, ensuring fair and organized appointment flow. It helps the hospital system simulate real waiting-room behavior where the next patient is always served from the front of the queue.</a:t>
            </a:r>
          </a:p>
          <a:p>
            <a:pPr marL="0" indent="0">
              <a:buNone/>
            </a:pPr>
            <a:r>
              <a:rPr lang="en-IN" b="1" dirty="0">
                <a:effectLst/>
                <a:latin typeface="Times New Roman" panose="02020603050405020304" pitchFamily="18" charset="0"/>
                <a:cs typeface="Times New Roman" panose="02020603050405020304" pitchFamily="18" charset="0"/>
              </a:rPr>
              <a:t>Hash Table – Patient Record Table</a:t>
            </a:r>
          </a:p>
          <a:p>
            <a:pPr marL="0" indent="0">
              <a:buNone/>
            </a:pPr>
            <a:r>
              <a:rPr lang="en-US" sz="2400" dirty="0">
                <a:latin typeface="Times New Roman" panose="02020603050405020304" pitchFamily="18" charset="0"/>
                <a:cs typeface="Times New Roman" panose="02020603050405020304" pitchFamily="18" charset="0"/>
              </a:rPr>
              <a:t>Patient Record Table uses a hash table to store and retrieve patient records instantly using a unique patient ID as the key. This allows the hospital system to access patient information in constant time, improving efficiency compared to searching through full lists.</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586232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1D6ED-58D6-4D3C-6264-DAE537D77260}"/>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DATA STRUCTURE USED</a:t>
            </a:r>
            <a:endParaRPr lang="en-IN" dirty="0"/>
          </a:p>
        </p:txBody>
      </p:sp>
      <p:sp>
        <p:nvSpPr>
          <p:cNvPr id="3" name="Content Placeholder 2">
            <a:extLst>
              <a:ext uri="{FF2B5EF4-FFF2-40B4-BE49-F238E27FC236}">
                <a16:creationId xmlns:a16="http://schemas.microsoft.com/office/drawing/2014/main" id="{D1C7B1D9-CD30-FCFC-FF63-64CB069E3DE0}"/>
              </a:ext>
            </a:extLst>
          </p:cNvPr>
          <p:cNvSpPr>
            <a:spLocks noGrp="1"/>
          </p:cNvSpPr>
          <p:nvPr>
            <p:ph idx="1"/>
          </p:nvPr>
        </p:nvSpPr>
        <p:spPr/>
        <p:txBody>
          <a:bodyPr>
            <a:normAutofit fontScale="85000" lnSpcReduction="20000"/>
          </a:bodyPr>
          <a:lstStyle/>
          <a:p>
            <a:pPr marL="0" indent="0">
              <a:buNone/>
            </a:pPr>
            <a:r>
              <a:rPr lang="en-US" b="1" dirty="0">
                <a:latin typeface="Times New Roman" panose="02020603050405020304" pitchFamily="18" charset="0"/>
                <a:cs typeface="Times New Roman" panose="02020603050405020304" pitchFamily="18" charset="0"/>
              </a:rPr>
              <a:t>HEAP</a:t>
            </a:r>
          </a:p>
          <a:p>
            <a:pPr marL="0" indent="0">
              <a:buNone/>
            </a:pPr>
            <a:r>
              <a:rPr lang="en-US" dirty="0">
                <a:latin typeface="Times New Roman" panose="02020603050405020304" pitchFamily="18" charset="0"/>
                <a:cs typeface="Times New Roman" panose="02020603050405020304" pitchFamily="18" charset="0"/>
              </a:rPr>
              <a:t>The system uses a min-heap to prioritize urgent patients by automatically placing the highest-priority cases at the top. Internal heap functions such as </a:t>
            </a:r>
            <a:r>
              <a:rPr lang="en-US" dirty="0" err="1">
                <a:latin typeface="Times New Roman" panose="02020603050405020304" pitchFamily="18" charset="0"/>
                <a:cs typeface="Times New Roman" panose="02020603050405020304" pitchFamily="18" charset="0"/>
              </a:rPr>
              <a:t>heapify</a:t>
            </a:r>
            <a:r>
              <a:rPr lang="en-US" dirty="0">
                <a:latin typeface="Times New Roman" panose="02020603050405020304" pitchFamily="18" charset="0"/>
                <a:cs typeface="Times New Roman" panose="02020603050405020304" pitchFamily="18" charset="0"/>
              </a:rPr>
              <a:t>(), heap push(), and heap pop() maintain this priority structure efficiently during every update.</a:t>
            </a:r>
          </a:p>
          <a:p>
            <a:pPr marL="0" indent="0">
              <a:buNone/>
            </a:pPr>
            <a:r>
              <a:rPr lang="en-IN" b="1" dirty="0">
                <a:latin typeface="Times New Roman" panose="02020603050405020304" pitchFamily="18" charset="0"/>
                <a:cs typeface="Times New Roman" panose="02020603050405020304" pitchFamily="18" charset="0"/>
              </a:rPr>
              <a:t>Tries</a:t>
            </a:r>
            <a:r>
              <a:rPr lang="en-IN" b="1" dirty="0">
                <a:effectLst/>
                <a:latin typeface="Times New Roman" panose="02020603050405020304" pitchFamily="18" charset="0"/>
                <a:cs typeface="Times New Roman" panose="02020603050405020304" pitchFamily="18" charset="0"/>
              </a:rPr>
              <a:t> </a:t>
            </a:r>
            <a:r>
              <a:rPr lang="en-IN" b="0" dirty="0">
                <a:effectLst/>
                <a:latin typeface="Times New Roman" panose="02020603050405020304" pitchFamily="18" charset="0"/>
                <a:cs typeface="Times New Roman" panose="02020603050405020304" pitchFamily="18" charset="0"/>
              </a:rPr>
              <a:t>– </a:t>
            </a:r>
            <a:r>
              <a:rPr lang="en-IN" b="1" dirty="0">
                <a:effectLst/>
                <a:latin typeface="Times New Roman" panose="02020603050405020304" pitchFamily="18" charset="0"/>
                <a:cs typeface="Times New Roman" panose="02020603050405020304" pitchFamily="18" charset="0"/>
              </a:rPr>
              <a:t>Autocomplete</a:t>
            </a:r>
          </a:p>
          <a:p>
            <a:pPr marL="0" indent="0">
              <a:buNone/>
            </a:pPr>
            <a:r>
              <a:rPr lang="en-US" dirty="0">
                <a:latin typeface="Times New Roman" panose="02020603050405020304" pitchFamily="18" charset="0"/>
                <a:cs typeface="Times New Roman" panose="02020603050405020304" pitchFamily="18" charset="0"/>
              </a:rPr>
              <a:t>Patient Tries uses a prefix-based tree structure to store patient names so the system can quickly suggest matches as the user types. Its autocomplete capability helps staff find patient records faster, even when only partial names are entered.</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619486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A9D1D8-5619-C406-6CB6-F95FA205335A}"/>
              </a:ext>
            </a:extLst>
          </p:cNvPr>
          <p:cNvSpPr>
            <a:spLocks noGrp="1"/>
          </p:cNvSpPr>
          <p:nvPr>
            <p:ph type="title"/>
          </p:nvPr>
        </p:nvSpPr>
        <p:spPr/>
        <p:txBody>
          <a:bodyPr/>
          <a:lstStyle/>
          <a:p>
            <a:r>
              <a:rPr lang="en-IN" b="1" dirty="0">
                <a:latin typeface="Times New Roman" pitchFamily="18" charset="0"/>
                <a:cs typeface="Times New Roman" pitchFamily="18" charset="0"/>
              </a:rPr>
              <a:t>Tools and Technologies</a:t>
            </a:r>
            <a:endParaRPr lang="en-IN" dirty="0"/>
          </a:p>
        </p:txBody>
      </p:sp>
      <p:sp>
        <p:nvSpPr>
          <p:cNvPr id="3" name="Content Placeholder 2">
            <a:extLst>
              <a:ext uri="{FF2B5EF4-FFF2-40B4-BE49-F238E27FC236}">
                <a16:creationId xmlns:a16="http://schemas.microsoft.com/office/drawing/2014/main" id="{20753B22-1D68-26D1-5550-3EC140D3F853}"/>
              </a:ext>
            </a:extLst>
          </p:cNvPr>
          <p:cNvSpPr>
            <a:spLocks noGrp="1"/>
          </p:cNvSpPr>
          <p:nvPr>
            <p:ph idx="1"/>
          </p:nvPr>
        </p:nvSpPr>
        <p:spPr/>
        <p:txBody>
          <a:bodyPr/>
          <a:lstStyle/>
          <a:p>
            <a:r>
              <a:rPr lang="en-IN" dirty="0">
                <a:latin typeface="Times New Roman" pitchFamily="18" charset="0"/>
                <a:cs typeface="Times New Roman" pitchFamily="18" charset="0"/>
              </a:rPr>
              <a:t>Programming Language: Python with Data Structures</a:t>
            </a:r>
          </a:p>
          <a:p>
            <a:r>
              <a:rPr lang="en-IN" dirty="0">
                <a:latin typeface="Times New Roman" pitchFamily="18" charset="0"/>
                <a:cs typeface="Times New Roman" pitchFamily="18" charset="0"/>
              </a:rPr>
              <a:t>Framework: Django  </a:t>
            </a:r>
          </a:p>
          <a:p>
            <a:r>
              <a:rPr lang="en-IN" dirty="0">
                <a:latin typeface="Times New Roman" pitchFamily="18" charset="0"/>
                <a:cs typeface="Times New Roman" pitchFamily="18" charset="0"/>
              </a:rPr>
              <a:t>Database: SQLite</a:t>
            </a:r>
          </a:p>
          <a:p>
            <a:r>
              <a:rPr lang="en-IN" dirty="0">
                <a:latin typeface="Times New Roman" pitchFamily="18" charset="0"/>
                <a:cs typeface="Times New Roman" pitchFamily="18" charset="0"/>
              </a:rPr>
              <a:t>Front End : HTML5, CSS3 , JS</a:t>
            </a:r>
          </a:p>
          <a:p>
            <a:r>
              <a:rPr lang="en-IN" dirty="0">
                <a:latin typeface="Times New Roman" pitchFamily="18" charset="0"/>
                <a:cs typeface="Times New Roman" pitchFamily="18" charset="0"/>
              </a:rPr>
              <a:t>IDE: Visual Studio Code</a:t>
            </a:r>
          </a:p>
          <a:p>
            <a:endParaRPr lang="en-IN" dirty="0"/>
          </a:p>
        </p:txBody>
      </p:sp>
    </p:spTree>
    <p:extLst>
      <p:ext uri="{BB962C8B-B14F-4D97-AF65-F5344CB8AC3E}">
        <p14:creationId xmlns:p14="http://schemas.microsoft.com/office/powerpoint/2010/main" val="42291017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270439-DDFE-FEB1-17B3-2BA0C2A52591}"/>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SYSTEM ARCHITECTURE</a:t>
            </a:r>
          </a:p>
        </p:txBody>
      </p:sp>
      <p:pic>
        <p:nvPicPr>
          <p:cNvPr id="4" name="Content Placeholder 3">
            <a:extLst>
              <a:ext uri="{FF2B5EF4-FFF2-40B4-BE49-F238E27FC236}">
                <a16:creationId xmlns:a16="http://schemas.microsoft.com/office/drawing/2014/main" id="{625033F0-821C-7884-D03A-4218D00A1FF3}"/>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036948" y="1656079"/>
            <a:ext cx="6975836" cy="4355348"/>
          </a:xfrm>
          <a:prstGeom prst="rect">
            <a:avLst/>
          </a:prstGeom>
          <a:noFill/>
          <a:ln>
            <a:noFill/>
          </a:ln>
        </p:spPr>
      </p:pic>
    </p:spTree>
    <p:extLst>
      <p:ext uri="{BB962C8B-B14F-4D97-AF65-F5344CB8AC3E}">
        <p14:creationId xmlns:p14="http://schemas.microsoft.com/office/powerpoint/2010/main" val="36072384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latin typeface="Times New Roman" panose="02020603050405020304" pitchFamily="18" charset="0"/>
                <a:cs typeface="Times New Roman" panose="02020603050405020304" pitchFamily="18" charset="0"/>
              </a:rPr>
              <a:t>Demonstration</a:t>
            </a:r>
          </a:p>
        </p:txBody>
      </p:sp>
      <p:sp>
        <p:nvSpPr>
          <p:cNvPr id="3" name="Content Placeholder 2"/>
          <p:cNvSpPr>
            <a:spLocks noGrp="1"/>
          </p:cNvSpPr>
          <p:nvPr>
            <p:ph idx="1"/>
          </p:nvPr>
        </p:nvSpPr>
        <p:spPr/>
        <p:txBody>
          <a:bodyPr>
            <a:normAutofit/>
          </a:bodyPr>
          <a:lstStyle/>
          <a:p>
            <a:pPr>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Appointments</a:t>
            </a:r>
            <a:r>
              <a:rPr lang="en-US" dirty="0">
                <a:latin typeface="Times New Roman" panose="02020603050405020304" pitchFamily="18" charset="0"/>
                <a:cs typeface="Times New Roman" panose="02020603050405020304" pitchFamily="18" charset="0"/>
              </a:rPr>
              <a:t> - Appointment slots auto-generated from doctor availability.</a:t>
            </a:r>
          </a:p>
          <a:p>
            <a:pPr>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Medical Blogs</a:t>
            </a:r>
            <a:r>
              <a:rPr lang="en-US" dirty="0">
                <a:latin typeface="Times New Roman" panose="02020603050405020304" pitchFamily="18" charset="0"/>
                <a:cs typeface="Times New Roman" panose="02020603050405020304" pitchFamily="18" charset="0"/>
              </a:rPr>
              <a:t> – To Follow Healthy Lifestyle</a:t>
            </a:r>
          </a:p>
          <a:p>
            <a:pPr>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Dashboard</a:t>
            </a:r>
            <a:r>
              <a:rPr lang="en-US" dirty="0">
                <a:latin typeface="Times New Roman" panose="02020603050405020304" pitchFamily="18" charset="0"/>
                <a:cs typeface="Times New Roman" panose="02020603050405020304" pitchFamily="18" charset="0"/>
              </a:rPr>
              <a:t> - Real-time metrics and summaries.</a:t>
            </a:r>
          </a:p>
          <a:p>
            <a:pPr>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Role-based access</a:t>
            </a:r>
            <a:r>
              <a:rPr lang="en-US" dirty="0">
                <a:latin typeface="Times New Roman" panose="02020603050405020304" pitchFamily="18" charset="0"/>
                <a:cs typeface="Times New Roman" panose="02020603050405020304" pitchFamily="18" charset="0"/>
              </a:rPr>
              <a:t>  - Separate login views for Patient and Doctor.</a:t>
            </a:r>
          </a:p>
          <a:p>
            <a:pPr marL="0" indent="0">
              <a:buNone/>
            </a:pPr>
            <a:endParaRPr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b="1" dirty="0">
                <a:latin typeface="Times New Roman" panose="02020603050405020304" pitchFamily="18" charset="0"/>
                <a:cs typeface="Times New Roman" panose="02020603050405020304" pitchFamily="18" charset="0"/>
              </a:rPr>
              <a:t>Results &amp; Analysis</a:t>
            </a:r>
          </a:p>
        </p:txBody>
      </p:sp>
      <p:sp>
        <p:nvSpPr>
          <p:cNvPr id="3" name="Content Placeholder 2"/>
          <p:cNvSpPr>
            <a:spLocks noGrp="1"/>
          </p:cNvSpPr>
          <p:nvPr>
            <p:ph idx="1"/>
          </p:nvPr>
        </p:nvSpPr>
        <p:spPr/>
        <p:txBody>
          <a:bodyPr>
            <a:normAutofit fontScale="92500"/>
          </a:bodyPr>
          <a:lstStyle/>
          <a:p>
            <a:pPr marL="514350" indent="-514350">
              <a:buFont typeface="+mj-lt"/>
              <a:buAutoNum type="arabicPeriod"/>
            </a:pPr>
            <a:r>
              <a:rPr lang="en-US" dirty="0">
                <a:latin typeface="Times New Roman" panose="02020603050405020304" pitchFamily="18" charset="0"/>
                <a:cs typeface="Times New Roman" panose="02020603050405020304" pitchFamily="18" charset="0"/>
              </a:rPr>
              <a:t>The system delivers fast data lookup, optimized scheduling, and a responsive user interface.</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The Hospital Management System streamlines patient handling by using efficient data structures for faster processing and improved organization.</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Overall, HMS delivers a more reliable, faster, and smarter healthcare workflow compared to manual systems.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0B1548-6508-B78B-2690-C4A14E37E6CC}"/>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RESULT &amp; ANALYSIS</a:t>
            </a:r>
          </a:p>
        </p:txBody>
      </p:sp>
      <p:pic>
        <p:nvPicPr>
          <p:cNvPr id="4" name="Content Placeholder 3">
            <a:extLst>
              <a:ext uri="{FF2B5EF4-FFF2-40B4-BE49-F238E27FC236}">
                <a16:creationId xmlns:a16="http://schemas.microsoft.com/office/drawing/2014/main" id="{41B6175F-0877-C4B3-F3FC-F9802B22A48B}"/>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190213" y="1659118"/>
            <a:ext cx="6825540" cy="3839671"/>
          </a:xfrm>
          <a:prstGeom prst="rect">
            <a:avLst/>
          </a:prstGeom>
        </p:spPr>
      </p:pic>
    </p:spTree>
    <p:extLst>
      <p:ext uri="{BB962C8B-B14F-4D97-AF65-F5344CB8AC3E}">
        <p14:creationId xmlns:p14="http://schemas.microsoft.com/office/powerpoint/2010/main" val="39058750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67DBE9-8D05-FEDF-1284-55E52C392AF8}"/>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RESULT</a:t>
            </a:r>
          </a:p>
        </p:txBody>
      </p:sp>
      <p:pic>
        <p:nvPicPr>
          <p:cNvPr id="4" name="Content Placeholder 3">
            <a:extLst>
              <a:ext uri="{FF2B5EF4-FFF2-40B4-BE49-F238E27FC236}">
                <a16:creationId xmlns:a16="http://schemas.microsoft.com/office/drawing/2014/main" id="{D9ABEC0C-E5B0-834E-7C00-A754C53184A3}"/>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598887" y="1505939"/>
            <a:ext cx="2992726" cy="1907863"/>
          </a:xfrm>
          <a:prstGeom prst="rect">
            <a:avLst/>
          </a:prstGeom>
          <a:noFill/>
          <a:ln>
            <a:noFill/>
          </a:ln>
        </p:spPr>
      </p:pic>
      <p:pic>
        <p:nvPicPr>
          <p:cNvPr id="5" name="Picture 4">
            <a:extLst>
              <a:ext uri="{FF2B5EF4-FFF2-40B4-BE49-F238E27FC236}">
                <a16:creationId xmlns:a16="http://schemas.microsoft.com/office/drawing/2014/main" id="{80836F72-3450-7DB5-CA58-8DA73C1DD430}"/>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118756" y="1505939"/>
            <a:ext cx="2655860" cy="2042812"/>
          </a:xfrm>
          <a:prstGeom prst="rect">
            <a:avLst/>
          </a:prstGeom>
          <a:noFill/>
          <a:ln>
            <a:noFill/>
          </a:ln>
        </p:spPr>
      </p:pic>
      <p:pic>
        <p:nvPicPr>
          <p:cNvPr id="6" name="Picture 5">
            <a:extLst>
              <a:ext uri="{FF2B5EF4-FFF2-40B4-BE49-F238E27FC236}">
                <a16:creationId xmlns:a16="http://schemas.microsoft.com/office/drawing/2014/main" id="{EC1BB10D-0734-3C4B-251D-A521A84B1A9A}"/>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799760" y="4065145"/>
            <a:ext cx="4380007" cy="2463754"/>
          </a:xfrm>
          <a:prstGeom prst="rect">
            <a:avLst/>
          </a:prstGeom>
          <a:noFill/>
          <a:ln>
            <a:noFill/>
          </a:ln>
        </p:spPr>
      </p:pic>
    </p:spTree>
    <p:extLst>
      <p:ext uri="{BB962C8B-B14F-4D97-AF65-F5344CB8AC3E}">
        <p14:creationId xmlns:p14="http://schemas.microsoft.com/office/powerpoint/2010/main" val="37532723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906322-46C0-F44D-601E-D5CF639FE1BF}"/>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RESULT</a:t>
            </a:r>
            <a:endParaRPr lang="en-IN" dirty="0"/>
          </a:p>
        </p:txBody>
      </p:sp>
      <p:pic>
        <p:nvPicPr>
          <p:cNvPr id="4" name="Picture 3">
            <a:extLst>
              <a:ext uri="{FF2B5EF4-FFF2-40B4-BE49-F238E27FC236}">
                <a16:creationId xmlns:a16="http://schemas.microsoft.com/office/drawing/2014/main" id="{3E28FBC8-8D59-900C-D739-60F59EF619F8}"/>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57200" y="1600200"/>
            <a:ext cx="3709447" cy="2086459"/>
          </a:xfrm>
          <a:prstGeom prst="rect">
            <a:avLst/>
          </a:prstGeom>
          <a:noFill/>
          <a:ln>
            <a:noFill/>
          </a:ln>
        </p:spPr>
      </p:pic>
      <p:pic>
        <p:nvPicPr>
          <p:cNvPr id="5" name="Content Placeholder 4">
            <a:extLst>
              <a:ext uri="{FF2B5EF4-FFF2-40B4-BE49-F238E27FC236}">
                <a16:creationId xmlns:a16="http://schemas.microsoft.com/office/drawing/2014/main" id="{F01CCF86-1798-E9E8-B965-28F411DDFBA5}"/>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rcRect/>
          <a:stretch>
            <a:fillRect/>
          </a:stretch>
        </p:blipFill>
        <p:spPr bwMode="auto">
          <a:xfrm>
            <a:off x="4572000" y="1600199"/>
            <a:ext cx="3846136" cy="2163789"/>
          </a:xfrm>
          <a:prstGeom prst="rect">
            <a:avLst/>
          </a:prstGeom>
          <a:noFill/>
          <a:ln>
            <a:noFill/>
          </a:ln>
        </p:spPr>
      </p:pic>
      <p:pic>
        <p:nvPicPr>
          <p:cNvPr id="6" name="Picture 5">
            <a:extLst>
              <a:ext uri="{FF2B5EF4-FFF2-40B4-BE49-F238E27FC236}">
                <a16:creationId xmlns:a16="http://schemas.microsoft.com/office/drawing/2014/main" id="{A5FEBFCB-8C59-D719-0EB1-5A259D3E7BA1}"/>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026762" y="3992250"/>
            <a:ext cx="4751109" cy="2672499"/>
          </a:xfrm>
          <a:prstGeom prst="rect">
            <a:avLst/>
          </a:prstGeom>
          <a:noFill/>
          <a:ln>
            <a:noFill/>
          </a:ln>
        </p:spPr>
      </p:pic>
    </p:spTree>
    <p:extLst>
      <p:ext uri="{BB962C8B-B14F-4D97-AF65-F5344CB8AC3E}">
        <p14:creationId xmlns:p14="http://schemas.microsoft.com/office/powerpoint/2010/main" val="13743841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476D2C-5672-F1F6-C32E-2C3F54B1B3E0}"/>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RESULT</a:t>
            </a:r>
            <a:endParaRPr lang="en-IN" dirty="0"/>
          </a:p>
        </p:txBody>
      </p:sp>
      <p:pic>
        <p:nvPicPr>
          <p:cNvPr id="4" name="Content Placeholder 3">
            <a:extLst>
              <a:ext uri="{FF2B5EF4-FFF2-40B4-BE49-F238E27FC236}">
                <a16:creationId xmlns:a16="http://schemas.microsoft.com/office/drawing/2014/main" id="{CA62A856-D411-1FCB-6C39-FF9BCD091BAE}"/>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457200" y="1568961"/>
            <a:ext cx="3913632" cy="2201762"/>
          </a:xfrm>
          <a:prstGeom prst="rect">
            <a:avLst/>
          </a:prstGeom>
          <a:noFill/>
          <a:ln>
            <a:noFill/>
          </a:ln>
        </p:spPr>
      </p:pic>
      <p:pic>
        <p:nvPicPr>
          <p:cNvPr id="5" name="Picture 4">
            <a:extLst>
              <a:ext uri="{FF2B5EF4-FFF2-40B4-BE49-F238E27FC236}">
                <a16:creationId xmlns:a16="http://schemas.microsoft.com/office/drawing/2014/main" id="{C97279C5-34EB-D395-3429-9477629229F5}"/>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772557" y="1568962"/>
            <a:ext cx="3914244" cy="2201762"/>
          </a:xfrm>
          <a:prstGeom prst="rect">
            <a:avLst/>
          </a:prstGeom>
          <a:noFill/>
          <a:ln>
            <a:noFill/>
          </a:ln>
        </p:spPr>
      </p:pic>
      <p:pic>
        <p:nvPicPr>
          <p:cNvPr id="6" name="Picture 5">
            <a:extLst>
              <a:ext uri="{FF2B5EF4-FFF2-40B4-BE49-F238E27FC236}">
                <a16:creationId xmlns:a16="http://schemas.microsoft.com/office/drawing/2014/main" id="{ED3AC844-A255-2C54-A9F8-E0213F52A9CD}"/>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432114" y="4003622"/>
            <a:ext cx="4823067" cy="2712975"/>
          </a:xfrm>
          <a:prstGeom prst="rect">
            <a:avLst/>
          </a:prstGeom>
          <a:noFill/>
          <a:ln>
            <a:noFill/>
          </a:ln>
        </p:spPr>
      </p:pic>
    </p:spTree>
    <p:extLst>
      <p:ext uri="{BB962C8B-B14F-4D97-AF65-F5344CB8AC3E}">
        <p14:creationId xmlns:p14="http://schemas.microsoft.com/office/powerpoint/2010/main" val="8726277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44ED0F-B71F-066D-DEF1-BAC5713C6915}"/>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RESULT</a:t>
            </a:r>
            <a:endParaRPr lang="en-IN" dirty="0"/>
          </a:p>
        </p:txBody>
      </p:sp>
      <p:sp>
        <p:nvSpPr>
          <p:cNvPr id="3" name="Content Placeholder 2">
            <a:extLst>
              <a:ext uri="{FF2B5EF4-FFF2-40B4-BE49-F238E27FC236}">
                <a16:creationId xmlns:a16="http://schemas.microsoft.com/office/drawing/2014/main" id="{C6A85ECC-A2AA-4167-71FA-DC12FD69D482}"/>
              </a:ext>
            </a:extLst>
          </p:cNvPr>
          <p:cNvSpPr>
            <a:spLocks noGrp="1"/>
          </p:cNvSpPr>
          <p:nvPr>
            <p:ph idx="1"/>
          </p:nvPr>
        </p:nvSpPr>
        <p:spPr/>
        <p:txBody>
          <a:bodyPr/>
          <a:lstStyle/>
          <a:p>
            <a:endParaRPr lang="en-IN"/>
          </a:p>
        </p:txBody>
      </p:sp>
      <p:pic>
        <p:nvPicPr>
          <p:cNvPr id="4" name="Picture 3">
            <a:extLst>
              <a:ext uri="{FF2B5EF4-FFF2-40B4-BE49-F238E27FC236}">
                <a16:creationId xmlns:a16="http://schemas.microsoft.com/office/drawing/2014/main" id="{893E09E9-F9A3-15C2-28D0-AD7DC458677D}"/>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57200" y="1600199"/>
            <a:ext cx="4114800" cy="2314575"/>
          </a:xfrm>
          <a:prstGeom prst="rect">
            <a:avLst/>
          </a:prstGeom>
          <a:noFill/>
          <a:ln>
            <a:noFill/>
          </a:ln>
        </p:spPr>
      </p:pic>
      <p:pic>
        <p:nvPicPr>
          <p:cNvPr id="5" name="Picture 4">
            <a:extLst>
              <a:ext uri="{FF2B5EF4-FFF2-40B4-BE49-F238E27FC236}">
                <a16:creationId xmlns:a16="http://schemas.microsoft.com/office/drawing/2014/main" id="{C1D5F1A0-DC99-FACF-8719-C4B1ECC86883}"/>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637988" y="3848707"/>
            <a:ext cx="4048812" cy="2277456"/>
          </a:xfrm>
          <a:prstGeom prst="rect">
            <a:avLst/>
          </a:prstGeom>
          <a:noFill/>
          <a:ln>
            <a:noFill/>
          </a:ln>
        </p:spPr>
      </p:pic>
    </p:spTree>
    <p:extLst>
      <p:ext uri="{BB962C8B-B14F-4D97-AF65-F5344CB8AC3E}">
        <p14:creationId xmlns:p14="http://schemas.microsoft.com/office/powerpoint/2010/main" val="3850671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latin typeface="Times New Roman" panose="02020603050405020304" pitchFamily="18" charset="0"/>
                <a:cs typeface="Times New Roman" panose="02020603050405020304" pitchFamily="18" charset="0"/>
              </a:rPr>
              <a:t>Future</a:t>
            </a:r>
            <a:r>
              <a:rPr dirty="0">
                <a:latin typeface="Times New Roman" panose="02020603050405020304" pitchFamily="18" charset="0"/>
                <a:cs typeface="Times New Roman" panose="02020603050405020304" pitchFamily="18" charset="0"/>
              </a:rPr>
              <a:t> </a:t>
            </a:r>
            <a:r>
              <a:rPr b="1" dirty="0">
                <a:latin typeface="Times New Roman" panose="02020603050405020304" pitchFamily="18" charset="0"/>
                <a:cs typeface="Times New Roman" panose="02020603050405020304" pitchFamily="18" charset="0"/>
              </a:rPr>
              <a:t>Enhancements</a:t>
            </a:r>
          </a:p>
        </p:txBody>
      </p:sp>
      <p:sp>
        <p:nvSpPr>
          <p:cNvPr id="4" name="Rectangle 1">
            <a:extLst>
              <a:ext uri="{FF2B5EF4-FFF2-40B4-BE49-F238E27FC236}">
                <a16:creationId xmlns:a16="http://schemas.microsoft.com/office/drawing/2014/main" id="{A5D2222E-6AFE-3EC2-20C7-807936E9075E}"/>
              </a:ext>
            </a:extLst>
          </p:cNvPr>
          <p:cNvSpPr>
            <a:spLocks noGrp="1" noChangeArrowheads="1"/>
          </p:cNvSpPr>
          <p:nvPr>
            <p:ph idx="1"/>
          </p:nvPr>
        </p:nvSpPr>
        <p:spPr bwMode="auto">
          <a:xfrm>
            <a:off x="457201" y="1524081"/>
            <a:ext cx="7894948" cy="4678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Cloud integration</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Scalable data storage and real-time access.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Predictive analytics</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Forecast patient flow, inventory needs and scheduling demand.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Mobile application - </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on the go access by patients and staff.</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Full backend with advanced authentication</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secure, role-based operations.</a:t>
            </a: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2800" dirty="0">
                <a:latin typeface="Times New Roman" panose="02020603050405020304" pitchFamily="18" charset="0"/>
                <a:cs typeface="Times New Roman" panose="02020603050405020304" pitchFamily="18" charset="0"/>
              </a:rPr>
              <a:t> </a:t>
            </a: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Blood bank Modules </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request Blood and for      Blood Donor</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b="1" dirty="0">
                <a:latin typeface="Times New Roman" panose="02020603050405020304" pitchFamily="18" charset="0"/>
                <a:cs typeface="Times New Roman" panose="02020603050405020304" pitchFamily="18" charset="0"/>
              </a:rPr>
              <a:t>Conclusion</a:t>
            </a:r>
          </a:p>
        </p:txBody>
      </p:sp>
      <p:sp>
        <p:nvSpPr>
          <p:cNvPr id="4" name="Rectangle 1">
            <a:extLst>
              <a:ext uri="{FF2B5EF4-FFF2-40B4-BE49-F238E27FC236}">
                <a16:creationId xmlns:a16="http://schemas.microsoft.com/office/drawing/2014/main" id="{87E29347-1085-8DCA-672B-E2719FC0DD69}"/>
              </a:ext>
            </a:extLst>
          </p:cNvPr>
          <p:cNvSpPr>
            <a:spLocks noGrp="1" noChangeArrowheads="1"/>
          </p:cNvSpPr>
          <p:nvPr>
            <p:ph idx="1"/>
          </p:nvPr>
        </p:nvSpPr>
        <p:spPr bwMode="auto">
          <a:xfrm>
            <a:off x="457200" y="1668545"/>
            <a:ext cx="8412967" cy="46107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lang="en-US" sz="2400" dirty="0">
                <a:latin typeface="Times New Roman" panose="02020603050405020304" pitchFamily="18" charset="0"/>
                <a:cs typeface="Times New Roman" panose="02020603050405020304" pitchFamily="18" charset="0"/>
              </a:rPr>
              <a:t>The Hospital Management System successfully integrates advanced data structures with Python and the Django framework to deliver a faster, smarter, and more organized healthcare workflow. Data structures such as queues, hash tables, heaps, and tries enhance the system’s efficiency by improving patient flow, accelerating record retrieval, prioritizing emergencies, and enabling intelligent search features. Django provides secure backend handling and smooth database management, while HTML, CSS, and JavaScript ensure a clean, responsive, and user-friendly interface. Together, these technologies create a reliable, scalable, and modern HMS that significantly outperforms traditional manual hospital processes.</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sz="4000" b="1" spc="-10" dirty="0">
                <a:latin typeface="Times New Roman" panose="02020603050405020304" pitchFamily="18" charset="0"/>
                <a:ea typeface="Times New Roman" panose="02020603050405020304" pitchFamily="18" charset="0"/>
              </a:rPr>
            </a:br>
            <a:r>
              <a:rPr lang="en-US" sz="4000" b="1" spc="-10" dirty="0">
                <a:effectLst/>
                <a:latin typeface="Times New Roman" panose="02020603050405020304" pitchFamily="18" charset="0"/>
                <a:ea typeface="Times New Roman" panose="02020603050405020304" pitchFamily="18" charset="0"/>
              </a:rPr>
              <a:t>REFERENCES</a:t>
            </a:r>
            <a:br>
              <a:rPr lang="en-IN" sz="1800" dirty="0">
                <a:effectLst/>
                <a:latin typeface="Times New Roman" panose="02020603050405020304" pitchFamily="18" charset="0"/>
                <a:ea typeface="Times New Roman" panose="02020603050405020304" pitchFamily="18" charset="0"/>
              </a:rPr>
            </a:br>
            <a:endParaRPr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fontScale="92500" lnSpcReduction="10000"/>
          </a:bodyPr>
          <a:lstStyle/>
          <a:p>
            <a:pPr marL="0" indent="0">
              <a:buNone/>
            </a:pPr>
            <a:r>
              <a:rPr dirty="0">
                <a:latin typeface="Times New Roman" panose="02020603050405020304" pitchFamily="18" charset="0"/>
                <a:cs typeface="Times New Roman" panose="02020603050405020304" pitchFamily="18" charset="0"/>
              </a:rPr>
              <a:t>• Mark Allen Weiss – DS &amp; Algorithms</a:t>
            </a:r>
          </a:p>
          <a:p>
            <a:pPr marL="0" indent="0">
              <a:buNone/>
            </a:pPr>
            <a:r>
              <a:rPr dirty="0">
                <a:latin typeface="Times New Roman" panose="02020603050405020304" pitchFamily="18" charset="0"/>
                <a:cs typeface="Times New Roman" panose="02020603050405020304" pitchFamily="18" charset="0"/>
              </a:rPr>
              <a:t>• Healthcare Data M</a:t>
            </a:r>
            <a:r>
              <a:rPr lang="en-IN" dirty="0" err="1">
                <a:latin typeface="Times New Roman" panose="02020603050405020304" pitchFamily="18" charset="0"/>
                <a:cs typeface="Times New Roman" panose="02020603050405020304" pitchFamily="18" charset="0"/>
              </a:rPr>
              <a:t>anagement</a:t>
            </a:r>
            <a:r>
              <a:rPr lang="en-IN"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papers</a:t>
            </a:r>
          </a:p>
          <a:p>
            <a:pPr marL="0" indent="0">
              <a:buNone/>
            </a:pPr>
            <a:r>
              <a:rPr dirty="0">
                <a:latin typeface="Times New Roman" panose="02020603050405020304" pitchFamily="18" charset="0"/>
                <a:cs typeface="Times New Roman" panose="02020603050405020304" pitchFamily="18" charset="0"/>
              </a:rPr>
              <a:t>• Geeks</a:t>
            </a:r>
            <a:r>
              <a:rPr lang="en-IN"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for</a:t>
            </a:r>
            <a:r>
              <a:rPr lang="en-IN"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Geeks / W3Schools</a:t>
            </a:r>
            <a:endParaRPr lang="en-IN"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dirty="0" err="1">
                <a:effectLst/>
                <a:latin typeface="Times New Roman" panose="02020603050405020304" pitchFamily="18" charset="0"/>
                <a:ea typeface="Times New Roman" panose="02020603050405020304" pitchFamily="18" charset="0"/>
              </a:rPr>
              <a:t>Dückers</a:t>
            </a:r>
            <a:r>
              <a:rPr lang="en-US" dirty="0">
                <a:effectLst/>
                <a:latin typeface="Times New Roman" panose="02020603050405020304" pitchFamily="18" charset="0"/>
                <a:ea typeface="Times New Roman" panose="02020603050405020304" pitchFamily="18" charset="0"/>
              </a:rPr>
              <a:t>, Michel, et al. "Longitudinal analysis on the development of hospital quality management systems in the Netherlands</a:t>
            </a:r>
          </a:p>
          <a:p>
            <a:pPr>
              <a:buFont typeface="Arial" panose="020B0604020202020204" pitchFamily="34" charset="0"/>
              <a:buChar char="•"/>
            </a:pPr>
            <a:r>
              <a:rPr lang="en-US" dirty="0" err="1">
                <a:effectLst/>
                <a:latin typeface="Times New Roman" panose="02020603050405020304" pitchFamily="18" charset="0"/>
                <a:ea typeface="Times New Roman" panose="02020603050405020304" pitchFamily="18" charset="0"/>
              </a:rPr>
              <a:t>Balaraman</a:t>
            </a:r>
            <a:r>
              <a:rPr lang="en-US" dirty="0">
                <a:effectLst/>
                <a:latin typeface="Times New Roman" panose="02020603050405020304" pitchFamily="18" charset="0"/>
                <a:ea typeface="Times New Roman" panose="02020603050405020304" pitchFamily="18" charset="0"/>
              </a:rPr>
              <a:t>, Premkumar, and Kalpana </a:t>
            </a:r>
            <a:r>
              <a:rPr lang="en-US" dirty="0" err="1">
                <a:effectLst/>
                <a:latin typeface="Times New Roman" panose="02020603050405020304" pitchFamily="18" charset="0"/>
                <a:ea typeface="Times New Roman" panose="02020603050405020304" pitchFamily="18" charset="0"/>
              </a:rPr>
              <a:t>Kosalram</a:t>
            </a:r>
            <a:r>
              <a:rPr lang="en-US" dirty="0">
                <a:effectLst/>
                <a:latin typeface="Times New Roman" panose="02020603050405020304" pitchFamily="18" charset="0"/>
                <a:ea typeface="Times New Roman" panose="02020603050405020304" pitchFamily="18" charset="0"/>
              </a:rPr>
              <a:t>. "E-Hospital Management &amp; Hospital Information Systems-Changing Trends.</a:t>
            </a:r>
            <a:endParaRPr dirty="0">
              <a:latin typeface="Times New Roman" panose="02020603050405020304" pitchFamily="18" charset="0"/>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314</TotalTime>
  <Words>838</Words>
  <Application>Microsoft Office PowerPoint</Application>
  <PresentationFormat>On-screen Show (4:3)</PresentationFormat>
  <Paragraphs>64</Paragraphs>
  <Slides>20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Calibri</vt:lpstr>
      <vt:lpstr>Times New Roman</vt:lpstr>
      <vt:lpstr>Office Theme</vt:lpstr>
      <vt:lpstr>HOSPITAL MANAGEMENT SYSTEM</vt:lpstr>
      <vt:lpstr>Problem Statement</vt:lpstr>
      <vt:lpstr>Objectives</vt:lpstr>
      <vt:lpstr>Literature Review / Existing Systems</vt:lpstr>
      <vt:lpstr>Methodology </vt:lpstr>
      <vt:lpstr>Implementation Details</vt:lpstr>
      <vt:lpstr>DATA STRUCTURE USED</vt:lpstr>
      <vt:lpstr>DATA STRUCTURE USED</vt:lpstr>
      <vt:lpstr>Tools and Technologies</vt:lpstr>
      <vt:lpstr>SYSTEM ARCHITECTURE</vt:lpstr>
      <vt:lpstr>Demonstration</vt:lpstr>
      <vt:lpstr>Results &amp; Analysis</vt:lpstr>
      <vt:lpstr>RESULT &amp; ANALYSIS</vt:lpstr>
      <vt:lpstr>RESULT</vt:lpstr>
      <vt:lpstr>RESULT</vt:lpstr>
      <vt:lpstr>RESULT</vt:lpstr>
      <vt:lpstr>RESULT</vt:lpstr>
      <vt:lpstr>Future Enhancements</vt:lpstr>
      <vt:lpstr>Conclusion</vt:lpstr>
      <vt:lpstr> REFERENCES </vt:lpstr>
    </vt:vector>
  </TitlesOfParts>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Experiential Learning Course – Advanced Data Structures</dc:title>
  <dc:creator>Administrator</dc:creator>
  <dc:description>generated using python-pptx</dc:description>
  <cp:lastModifiedBy>Blessy Jefrina H</cp:lastModifiedBy>
  <cp:revision>6</cp:revision>
  <dcterms:created xsi:type="dcterms:W3CDTF">2013-01-27T09:14:16Z</dcterms:created>
  <dcterms:modified xsi:type="dcterms:W3CDTF">2025-12-10T01:02:13Z</dcterms:modified>
</cp:coreProperties>
</file>